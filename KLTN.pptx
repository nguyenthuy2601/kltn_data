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71" r:id="rId6"/>
    <p:sldId id="274" r:id="rId7"/>
    <p:sldId id="273" r:id="rId8"/>
    <p:sldId id="272" r:id="rId9"/>
    <p:sldId id="261" r:id="rId10"/>
    <p:sldId id="269" r:id="rId11"/>
    <p:sldId id="263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634C73F-24D4-448D-8C11-FA3A33A2146C}">
          <p14:sldIdLst>
            <p14:sldId id="256"/>
            <p14:sldId id="257"/>
            <p14:sldId id="258"/>
            <p14:sldId id="270"/>
            <p14:sldId id="271"/>
            <p14:sldId id="274"/>
            <p14:sldId id="273"/>
            <p14:sldId id="272"/>
            <p14:sldId id="261"/>
            <p14:sldId id="269"/>
            <p14:sldId id="263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31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7A55F-4D5B-4117-889E-885A80EC192A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8A1C0-4F46-414B-B567-80799A92E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3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18A1C0-4F46-414B-B567-80799A92E5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85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EADCD59-5D0C-49D9-88F1-2315C19B43B4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4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B33E8-89F2-4078-9A1A-4F66BE8A57B6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2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0D8F-B885-444F-B94D-A69198527EF8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3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ACEA-069C-465C-BA27-FDE083FAA3C0}" type="datetime1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2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00835-E0FE-4D72-B472-4743A5B01554}" type="datetime1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5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78F44-17F7-4D0B-BD4A-1ADB2B7E8E16}" type="datetime1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4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BAF1-0193-4EF7-BDD0-D2ADEE52F964}" type="datetime1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05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50AC-3C31-454A-BE9F-BDDC38D1CDBF}" type="datetime1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8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3B942-C00E-4ECB-B8D3-DF96E0A4A7F9}" type="datetime1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8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B1CAB-8EBE-4A3E-82D2-9B300A1B8B9B}" type="datetime1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5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5ADE-A057-4D05-82BA-981CFCFF6971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91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1840-64D4-4373-B92A-12E823D60D7C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79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26D2-11E7-4C67-B171-572DE915CE56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352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91EE-A9AC-4FED-B1AD-BE9C32A5B833}" type="datetime1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404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73D7-B254-4708-A654-F0CC6BE3ECEC}" type="datetime1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724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0F82-1F6B-48BA-818D-441F615A95BA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18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4035E-0583-4371-A4B9-5B54D7752F56}" type="datetime1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8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3F9BB35-FDF9-4A3C-A276-0C7C601A6F1E}" type="datetime1">
              <a:rPr lang="en-US" smtClean="0"/>
              <a:t>7/1/2024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D50DAB7-785D-4070-8AD1-DF5EE4ACB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5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ỨNG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LÝ GIẢNG DẠY VÀ THỰC HIỆN BÁO CÁO MÔN HỌC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thụy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- 2051052135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1</a:t>
            </a:fld>
            <a:r>
              <a:rPr lang="en-US" dirty="0" smtClean="0"/>
              <a:t>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1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CÁC NỘI DUNG CHÍNH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244" y="2581006"/>
            <a:ext cx="11029615" cy="3044647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-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Minh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884" y="4607335"/>
            <a:ext cx="2357584" cy="203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5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BÀI TOÁN CỦA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213" y="2508970"/>
            <a:ext cx="10000991" cy="3678303"/>
          </a:xfrm>
        </p:spPr>
        <p:txBody>
          <a:bodyPr>
            <a:normAutofit lnSpcReduction="10000"/>
          </a:bodyPr>
          <a:lstStyle/>
          <a:p>
            <a:pPr mar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Sau </a:t>
            </a:r>
            <a:r>
              <a:rPr lang="vi-VN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mỗi </a:t>
            </a:r>
            <a:r>
              <a:rPr lang="vi-V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học </a:t>
            </a:r>
            <a:r>
              <a:rPr lang="vi-VN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kì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0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giảng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viên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0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BCMH</a:t>
            </a:r>
            <a:r>
              <a:rPr lang="vi-VN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vi-V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tuy nhiên </a:t>
            </a:r>
            <a:r>
              <a:rPr lang="vi-VN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có </a:t>
            </a:r>
            <a:r>
              <a:rPr lang="vi-VN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các bất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tiện</a:t>
            </a:r>
            <a:r>
              <a:rPr lang="en-US" sz="20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endParaRPr lang="vi-VN" b="0" dirty="0">
              <a:effectLst/>
            </a:endParaRPr>
          </a:p>
          <a:p>
            <a:pPr lvl="1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Cần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phải</a:t>
            </a:r>
            <a:r>
              <a:rPr lang="vi-VN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thực hiện tính toán, trích xuất dữ liệu thủ công, gây mất thời </a:t>
            </a:r>
            <a:r>
              <a:rPr lang="vi-VN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gian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vi-VN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vi-V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thiếu </a:t>
            </a:r>
            <a:r>
              <a:rPr lang="vi-VN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chính xác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,….</a:t>
            </a:r>
            <a:endParaRPr lang="vi-VN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ẫu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BCMH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hiện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nay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mang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Ví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CĐR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tương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ứng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câu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hỏi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).</a:t>
            </a:r>
            <a:endParaRPr lang="vi-VN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Dữ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thiết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cho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việc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BCMH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khó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thu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thập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có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nhất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quán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đầy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 err="1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đủ</a:t>
            </a:r>
            <a:r>
              <a:rPr lang="en-US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..</a:t>
            </a:r>
            <a:r>
              <a:rPr lang="vi-VN" sz="1800" b="0" i="0" u="none" strike="noStrike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57150" indent="0" fontAlgn="base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Kết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luận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</a:p>
          <a:p>
            <a:pPr marL="800100" lvl="1" fontAlgn="base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Xây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dựng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ứng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dụng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BCMH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thuận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lợi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cho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giảng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viên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sử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dụng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và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có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đầy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đủ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thông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tin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từ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nhiều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nguồn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giúp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việc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đánh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giá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giảng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dạy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được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bao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quát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hơn</a:t>
            </a:r>
            <a:r>
              <a:rPr lang="en-US" sz="18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3</a:t>
            </a:fld>
            <a:r>
              <a:rPr lang="en-US" dirty="0" smtClean="0"/>
              <a:t>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13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21" y="4115036"/>
            <a:ext cx="3056709" cy="26528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9159" y="2481580"/>
            <a:ext cx="8761413" cy="34163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nêu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file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can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thiệp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sạch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thân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thiện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4/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5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5/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577" y="1737360"/>
            <a:ext cx="7367451" cy="49784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6719" y="2542903"/>
            <a:ext cx="34868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Usecase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45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6</a:t>
            </a:fld>
            <a:r>
              <a:rPr lang="en-US" dirty="0" smtClean="0"/>
              <a:t>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5096" y="2394857"/>
            <a:ext cx="2917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Class diagram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366" y="1758992"/>
            <a:ext cx="7472110" cy="509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0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LỰA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249" y="4262546"/>
            <a:ext cx="2798737" cy="65632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Windows Forms</a:t>
            </a:r>
          </a:p>
        </p:txBody>
      </p:sp>
      <p:sp>
        <p:nvSpPr>
          <p:cNvPr id="4" name="Rectangle 3"/>
          <p:cNvSpPr/>
          <p:nvPr/>
        </p:nvSpPr>
        <p:spPr>
          <a:xfrm flipH="1">
            <a:off x="3671965" y="3620168"/>
            <a:ext cx="45719" cy="2049697"/>
          </a:xfrm>
          <a:prstGeom prst="rect">
            <a:avLst/>
          </a:prstGeom>
          <a:solidFill>
            <a:srgbClr val="AD3112"/>
          </a:solidFill>
          <a:ln>
            <a:solidFill>
              <a:srgbClr val="AD31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268968" y="3619163"/>
            <a:ext cx="45719" cy="2050702"/>
          </a:xfrm>
          <a:prstGeom prst="rect">
            <a:avLst/>
          </a:prstGeom>
          <a:solidFill>
            <a:srgbClr val="AD3112"/>
          </a:solidFill>
          <a:ln>
            <a:solidFill>
              <a:srgbClr val="AD31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79692" y="3253767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21930" y="3280774"/>
            <a:ext cx="1968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788273" y="3939271"/>
            <a:ext cx="2798737" cy="1657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.NET Framework</a:t>
            </a: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viện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996645" y="4078424"/>
            <a:ext cx="2798737" cy="10245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Microsoft Access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SQL Server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35660" y="3280774"/>
            <a:ext cx="888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7</a:t>
            </a:fld>
            <a:r>
              <a:rPr lang="en-US" dirty="0" smtClean="0"/>
              <a:t>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23" y="2337311"/>
            <a:ext cx="790439" cy="7173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309" y="2409207"/>
            <a:ext cx="1236031" cy="7907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479" y="2270909"/>
            <a:ext cx="1549709" cy="92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5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093" y="3692434"/>
            <a:ext cx="3943907" cy="31655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731" y="2438037"/>
            <a:ext cx="8761413" cy="3416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Theo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dõi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khối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biến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8</a:t>
            </a:fld>
            <a:r>
              <a:rPr lang="en-US" dirty="0" smtClean="0"/>
              <a:t>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1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F22E1A-97B2-EB54-FB0B-9CD74AD3E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NHƯỢC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6193969" y="2830286"/>
            <a:ext cx="45719" cy="3522254"/>
          </a:xfrm>
          <a:prstGeom prst="rect">
            <a:avLst/>
          </a:prstGeom>
          <a:solidFill>
            <a:srgbClr val="AD3112"/>
          </a:solidFill>
          <a:ln>
            <a:solidFill>
              <a:srgbClr val="AD31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20390" y="2103063"/>
            <a:ext cx="143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Uư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43267" y="2177032"/>
            <a:ext cx="20120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Nhược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-364008" y="2638697"/>
            <a:ext cx="6557977" cy="341630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dẻo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thập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nguồn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lưu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trữ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trung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mà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đầy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đủ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Cho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mới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BCMH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xóa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xét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ý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dễ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dàng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ngay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những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CNTT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319817" y="2638697"/>
            <a:ext cx="581122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module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sung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sỉ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buổi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cậy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feedback,…</a:t>
            </a:r>
          </a:p>
          <a:p>
            <a:pPr>
              <a:lnSpc>
                <a:spcPct val="150000"/>
              </a:lnSpc>
            </a:pP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9</a:t>
            </a:fld>
            <a:r>
              <a:rPr lang="en-US" dirty="0" smtClean="0"/>
              <a:t>/</a:t>
            </a:r>
          </a:p>
          <a:p>
            <a:r>
              <a:rPr lang="en-US" dirty="0" smtClean="0"/>
              <a:t>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62" y="3863808"/>
            <a:ext cx="4232699" cy="29225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8B8997-D646-7261-841A-8628AD2D9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0719E4-B394-DE0D-EC6F-99A6B9A20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531" y="2742838"/>
            <a:ext cx="10157480" cy="3416300"/>
          </a:xfrm>
        </p:spPr>
        <p:txBody>
          <a:bodyPr>
            <a:normAutofit/>
          </a:bodyPr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Cải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module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cài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Bổ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sung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sỉ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buổi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cậy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feedback,…</a:t>
            </a:r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rộng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10</a:t>
            </a:fld>
            <a:r>
              <a:rPr lang="en-US" dirty="0" smtClean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3949" y="3546665"/>
            <a:ext cx="3218051" cy="32451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DFF761-B642-ADCE-C690-58F24F145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CÁC KINH NGHIỆM, BÀI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B08FA57-F262-C686-FEAE-85EC90DE1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25" y="2568665"/>
            <a:ext cx="9418115" cy="3416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Tầm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cẩn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thận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tỉ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mỉ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đầy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đủ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,…</a:t>
            </a:r>
          </a:p>
          <a:p>
            <a:pPr>
              <a:lnSpc>
                <a:spcPct val="150000"/>
              </a:lnSpc>
            </a:pP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đầy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đủ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quán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tránh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mâu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thuẫn</a:t>
            </a:r>
            <a:endParaRPr lang="en-US" sz="1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tái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code,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trải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endParaRPr lang="en-US" sz="1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so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sánh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tóm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tắt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endParaRPr lang="en-US" sz="19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n-</a:t>
            </a:r>
            <a:r>
              <a:rPr lang="en-US" sz="1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tầm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trách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nhiệm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,…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11</a:t>
            </a:fld>
            <a:r>
              <a:rPr lang="en-US" dirty="0" smtClean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71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0AA2F9-88FC-743D-E062-ED43F5A8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MINH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8E0CE2-AB91-B009-F942-76B56090E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450" y="2507705"/>
            <a:ext cx="8761413" cy="3416300"/>
          </a:xfrm>
        </p:spPr>
        <p:txBody>
          <a:bodyPr>
            <a:noAutofit/>
          </a:bodyPr>
          <a:lstStyle/>
          <a:p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kiệm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thười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thầy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cô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clip minh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họa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dung 1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1 file word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2 file pdf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3 file HTML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SQL)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mẫu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</a:p>
          <a:p>
            <a:pPr lvl="1"/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dạy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12</a:t>
            </a:fld>
            <a:r>
              <a:rPr lang="en-US" dirty="0" smtClean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="" xmlns:a16="http://schemas.microsoft.com/office/drawing/2014/main" id="{33474BD5-5CDD-4624-B265-461D5D2FAB8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6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8">
            <a:extLst>
              <a:ext uri="{FF2B5EF4-FFF2-40B4-BE49-F238E27FC236}">
                <a16:creationId xmlns="" xmlns:a16="http://schemas.microsoft.com/office/drawing/2014/main" id="{97541F74-7AB4-44F5-B299-DC46587E96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>
              <a:extLst>
                <a:ext uri="{FF2B5EF4-FFF2-40B4-BE49-F238E27FC236}">
                  <a16:creationId xmlns="" xmlns:a16="http://schemas.microsoft.com/office/drawing/2014/main" id="{B7C5CDCA-4575-4FF4-A5EC-64DC449B20D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Oval 10">
              <a:extLst>
                <a:ext uri="{FF2B5EF4-FFF2-40B4-BE49-F238E27FC236}">
                  <a16:creationId xmlns="" xmlns:a16="http://schemas.microsoft.com/office/drawing/2014/main" id="{0742D19B-10DE-4D94-98F8-1F12F9938F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9BC4F9F2-5068-498F-A8BD-B7B10532884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2">
              <a:extLst>
                <a:ext uri="{FF2B5EF4-FFF2-40B4-BE49-F238E27FC236}">
                  <a16:creationId xmlns="" xmlns:a16="http://schemas.microsoft.com/office/drawing/2014/main" id="{53E1DABB-ED82-4D7D-8F9D-4F5168E3E5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="" xmlns:a16="http://schemas.microsoft.com/office/drawing/2014/main" id="{93468F7E-1797-41D7-AB73-3AD2C4C2537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="" xmlns:a16="http://schemas.microsoft.com/office/drawing/2014/main" id="{A20D4073-E031-435E-B8A6-63CEA7375E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>
              <a:extLst>
                <a:ext uri="{FF2B5EF4-FFF2-40B4-BE49-F238E27FC236}">
                  <a16:creationId xmlns="" xmlns:a16="http://schemas.microsoft.com/office/drawing/2014/main" id="{8304B15C-CB59-49EF-BEFA-F4B5CFF1FEC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>
              <a:extLst>
                <a:ext uri="{FF2B5EF4-FFF2-40B4-BE49-F238E27FC236}">
                  <a16:creationId xmlns="" xmlns:a16="http://schemas.microsoft.com/office/drawing/2014/main" id="{6739E239-4B56-4CD1-B3C9-F44730C4B14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="" xmlns:a16="http://schemas.microsoft.com/office/drawing/2014/main" id="{B97F9A81-D694-4C86-AF0C-8D592AFE285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=""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E382A3D-2F90-475C-8DF2-F666FEA342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171" y="1143000"/>
            <a:ext cx="8825658" cy="3389217"/>
          </a:xfrm>
        </p:spPr>
        <p:txBody>
          <a:bodyPr anchor="ctr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 ơn quý thầy cô đã lắng nghe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0DAB7-785D-4070-8AD1-DF5EE4ACB5C9}" type="slidenum">
              <a:rPr lang="en-US" smtClean="0"/>
              <a:t>13</a:t>
            </a:fld>
            <a:r>
              <a:rPr lang="en-US" dirty="0" smtClean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2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678</TotalTime>
  <Words>709</Words>
  <Application>Microsoft Office PowerPoint</Application>
  <PresentationFormat>Widescreen</PresentationFormat>
  <Paragraphs>97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Ion Boardroom</vt:lpstr>
      <vt:lpstr>ỨNG DỤNG QUẢN LÝ GIẢNG DẠY VÀ THỰC HIỆN BÁO CÁO MÔN HỌC</vt:lpstr>
      <vt:lpstr>CÁC NỘI DUNG CHÍNH</vt:lpstr>
      <vt:lpstr>BÀI TOÁN CỦA ĐỀ TÀI</vt:lpstr>
      <vt:lpstr>PHÂN TÍCH HỆ THỐNG</vt:lpstr>
      <vt:lpstr>THIẾT KẾ HỆ THỐNG</vt:lpstr>
      <vt:lpstr>THIẾT KẾ HỆ THỐNG</vt:lpstr>
      <vt:lpstr>LỰA CHỌN CÔNG NGHỆ</vt:lpstr>
      <vt:lpstr>KẾT QUẢ ĐẠT ĐƯỢC</vt:lpstr>
      <vt:lpstr>ƯU NHƯỢC ĐIỂM CỦA ỨNG DỤNG</vt:lpstr>
      <vt:lpstr>HƯỚNG PHÁT TRIỂN</vt:lpstr>
      <vt:lpstr>CÁC KINH NGHIỆM, BÀI HỌC</vt:lpstr>
      <vt:lpstr>MINH HỌA CHƯƠNG TRÌNH</vt:lpstr>
      <vt:lpstr>Cảm ơn quý thầy cô đã lắng nghe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quả lý giảng dạy và thực hiện báo cáo môn học</dc:title>
  <dc:creator>CamHa</dc:creator>
  <cp:lastModifiedBy>CamHa</cp:lastModifiedBy>
  <cp:revision>38</cp:revision>
  <dcterms:created xsi:type="dcterms:W3CDTF">2024-05-30T12:22:11Z</dcterms:created>
  <dcterms:modified xsi:type="dcterms:W3CDTF">2024-07-01T03:36:31Z</dcterms:modified>
</cp:coreProperties>
</file>